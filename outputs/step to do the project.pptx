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7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742950" y="1066800"/>
            <a:ext cx="742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Thứ tự triển khai dự án</a:t>
            </a:r>
            <a:endParaRPr sz="4050" b="1">
              <a:solidFill>
                <a:srgbClr val="111827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781050" y="1962150"/>
            <a:ext cx="590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4B5563"/>
                </a:solidFill>
              </a:defRPr>
            </a:pPr>
            <a:r>
              <a:rPr sz="2025" b="0">
                <a:solidFill>
                  <a:srgbClr val="4B5563"/>
                </a:solidFill>
              </a:rPr>
              <a:t>Khóa cửa nhận diện khuôn mặt</a:t>
            </a:r>
            <a:endParaRPr sz="2025" b="0">
              <a:solidFill>
                <a:srgbClr val="4B5563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781050" y="2933700"/>
            <a:ext cx="685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Làm nền tảng trước, test từng phần riêng lẻ, rồi mới ghép phần cứng thật để giảm rủi ro.</a:t>
            </a:r>
            <a:endParaRPr sz="1875" b="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8020050" y="990600"/>
            <a:ext cx="2781300" cy="4095750"/>
          </a:xfrm>
          <a:prstGeom prst="roundRect">
            <a:avLst>
              <a:gd name="adj" fmla="val 2740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8343900" y="13906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Nguyên tắc chính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343900" y="1943100"/>
            <a:ext cx="21336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Chốt API trước khi ghép hệ thống</a:t>
            </a:r>
            <a:endParaRPr sz="1350" b="0">
              <a:solidFill>
                <a:srgbClr val="4B5563"/>
              </a:solidFill>
            </a:endParaRPr>
          </a:p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Demo bằng mô phỏng trước</a:t>
            </a:r>
            <a:endParaRPr sz="1350" b="0">
              <a:solidFill>
                <a:srgbClr val="4B5563"/>
              </a:solidFill>
            </a:endParaRPr>
          </a:p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Mỗi nhánh chỉ sửa đúng phạm vi</a:t>
            </a:r>
            <a:endParaRPr sz="1350" b="0">
              <a:solidFill>
                <a:srgbClr val="4B5563"/>
              </a:solidFill>
            </a:endParaRPr>
          </a:p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Ghép từng bước, không ghép một lần</a:t>
            </a:r>
            <a:endParaRPr sz="1350" b="0">
              <a:solidFill>
                <a:srgbClr val="4B5563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1087100" y="63246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01</a:t>
            </a:r>
            <a:endParaRPr sz="1200" b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85800" y="3619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KHÓA CỬA NHẬN DIỆN KHUÔN MẶT</a:t>
            </a:r>
            <a:endParaRPr sz="1050" b="1">
              <a:solidFill>
                <a:srgbClr val="6B7280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23900"/>
            <a:ext cx="1028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Backend/API là điểm xuất phát hợp lý nhất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723900" y="1752600"/>
            <a:ext cx="1000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Backend là hợp đồng chung giữa AI, firmware và dashboard. Khi API rõ, các nhóm có thể làm song song mà không chờ nhau.</a:t>
            </a:r>
            <a:endParaRPr sz="1800" b="0">
              <a:solidFill>
                <a:srgbClr val="4B5563"/>
              </a:solidFill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762000" y="2914650"/>
            <a:ext cx="2286000" cy="1695450"/>
          </a:xfrm>
          <a:prstGeom prst="roundRect">
            <a:avLst>
              <a:gd name="adj" fmla="val 4494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990600" y="316230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085850" y="322897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AI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990600" y="3695700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Gửi kết quả nhận diện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3505200" y="2914650"/>
            <a:ext cx="2286000" cy="1695450"/>
          </a:xfrm>
          <a:prstGeom prst="roundRect">
            <a:avLst>
              <a:gd name="adj" fmla="val 4494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3733800" y="316230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829050" y="322897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Backend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733800" y="3695700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Ra quyết định và ghi log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248400" y="2914650"/>
            <a:ext cx="2286000" cy="1695450"/>
          </a:xfrm>
          <a:prstGeom prst="roundRect">
            <a:avLst>
              <a:gd name="adj" fmla="val 4494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477000" y="316230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6572250" y="322897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Firmware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477000" y="3695700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Nhận lệnh mở khóa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8991600" y="2914650"/>
            <a:ext cx="2286000" cy="1695450"/>
          </a:xfrm>
          <a:prstGeom prst="roundRect">
            <a:avLst>
              <a:gd name="adj" fmla="val 4494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9220200" y="316230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9315450" y="322897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Dashboard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9220200" y="3695700"/>
            <a:ext cx="180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Hiển thị và quản trị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819150" y="5334000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Kết luận: làm API skeleton trước, sau đó các nhóm bám theo endpoint và payload đã thống nhất.</a:t>
            </a:r>
            <a:endParaRPr sz="1725" b="1">
              <a:solidFill>
                <a:srgbClr val="111827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1087100" y="63246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02</a:t>
            </a:r>
            <a:endParaRPr sz="1200" b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85800" y="3619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KHÓA CỬA NHẬN DIỆN KHUÔN MẶT</a:t>
            </a:r>
            <a:endParaRPr sz="1050" b="1">
              <a:solidFill>
                <a:srgbClr val="6B7280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23900"/>
            <a:ext cx="1028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Roadmap nên đi theo 6 giai đoạn có điểm kiểm tra rõ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723900" y="1809750"/>
            <a:ext cx="3143250" cy="160020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33450" y="20383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1</a:t>
            </a:r>
            <a:endParaRPr sz="2250" b="1">
              <a:solidFill>
                <a:srgbClr val="2563EB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466850" y="20193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Chốt kiến trúc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466850" y="2628900"/>
            <a:ext cx="2076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Luồng dữ liệu, nhánh Git, API contract</a:t>
            </a:r>
            <a:endParaRPr sz="1200" b="0">
              <a:solidFill>
                <a:srgbClr val="4B5563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362450" y="1809750"/>
            <a:ext cx="3143250" cy="160020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4572000" y="20383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2</a:t>
            </a:r>
            <a:endParaRPr sz="2250" b="1">
              <a:solidFill>
                <a:srgbClr val="2563EB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5105400" y="20193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Backend skeleton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105400" y="2628900"/>
            <a:ext cx="2076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Health check, users, logs, lock API</a:t>
            </a:r>
            <a:endParaRPr sz="1200" b="0">
              <a:solidFill>
                <a:srgbClr val="4B5563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001000" y="1809750"/>
            <a:ext cx="3143250" cy="160020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210550" y="203835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3</a:t>
            </a:r>
            <a:endParaRPr sz="2250" b="1">
              <a:solidFill>
                <a:srgbClr val="2563EB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8743950" y="20193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AI demo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743950" y="2628900"/>
            <a:ext cx="2076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Nhận diện trên ảnh/webcam, gửi kết quả mẫu</a:t>
            </a:r>
            <a:endParaRPr sz="1200" b="0">
              <a:solidFill>
                <a:srgbClr val="4B5563"/>
              </a:solidFill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723900" y="3848100"/>
            <a:ext cx="3143250" cy="160020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33450" y="40767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4</a:t>
            </a:r>
            <a:endParaRPr sz="2250" b="1">
              <a:solidFill>
                <a:srgbClr val="2563EB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466850" y="405765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Firmware mô phỏng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466850" y="4667250"/>
            <a:ext cx="2076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ESP32 nhận lệnh, bật LED/relay thử</a:t>
            </a:r>
            <a:endParaRPr sz="1200" b="0">
              <a:solidFill>
                <a:srgbClr val="4B5563"/>
              </a:solidFill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4362450" y="3848100"/>
            <a:ext cx="3143250" cy="160020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4572000" y="40767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5</a:t>
            </a:r>
            <a:endParaRPr sz="2250" b="1">
              <a:solidFill>
                <a:srgbClr val="2563EB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5105400" y="405765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Dashboard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5105400" y="4667250"/>
            <a:ext cx="2076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Quản lý users, logs, trạng thái thiết bị</a:t>
            </a:r>
            <a:endParaRPr sz="1200" b="0">
              <a:solidFill>
                <a:srgbClr val="4B5563"/>
              </a:solidFill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8001000" y="3848100"/>
            <a:ext cx="3143250" cy="160020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8210550" y="40767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6</a:t>
            </a:r>
            <a:endParaRPr sz="2250" b="1">
              <a:solidFill>
                <a:srgbClr val="2563EB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8743950" y="405765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Ghép phần cứng thật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8743950" y="4667250"/>
            <a:ext cx="2076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Relay/servo/khóa điện, test an toàn</a:t>
            </a:r>
            <a:endParaRPr sz="1200" b="0">
              <a:solidFill>
                <a:srgbClr val="4B5563"/>
              </a:solidFill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11087100" y="63246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03</a:t>
            </a:r>
            <a:endParaRPr sz="1200" b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85800" y="3619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KHÓA CỬA NHẬN DIỆN KHUÔN MẶT</a:t>
            </a:r>
            <a:endParaRPr sz="1050" b="1">
              <a:solidFill>
                <a:srgbClr val="6B7280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23900"/>
            <a:ext cx="1028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Giai đoạn 1 khóa phạm vi để cả nhóm không làm lệch nhau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781050" y="1866900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066800" y="21526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Việc cần làm</a:t>
            </a:r>
            <a:endParaRPr sz="1950" b="1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066800" y="268605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Chốt vai trò từng nhánh feature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Chốt API contract bản đầu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Chốt database schema dự kiến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Chốt firmware nhận lệnh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Chốt payload AI gửi về backend</a:t>
            </a:r>
            <a:endParaRPr sz="1500" b="0">
              <a:solidFill>
                <a:srgbClr val="4B5563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477000" y="1866900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6762750" y="21526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Kết quả bàn giao</a:t>
            </a:r>
            <a:endParaRPr sz="1950" b="1">
              <a:solidFill>
                <a:srgbClr val="111827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762750" y="268605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README và wiki cho từng nhánh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docs/api.md có endpoint chính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docs/architecture.md mô tả luồng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docs/setup.md đủ cho người mới chạy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Quy tắc PR vào dev rõ ràng</a:t>
            </a:r>
            <a:endParaRPr sz="1500" b="0">
              <a:solidFill>
                <a:srgbClr val="4B5563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87100" y="63246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04</a:t>
            </a:r>
            <a:endParaRPr sz="1200" b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85800" y="3619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KHÓA CỬA NHẬN DIỆN KHUÔN MẶT</a:t>
            </a:r>
            <a:endParaRPr sz="1050" b="1">
              <a:solidFill>
                <a:srgbClr val="6B7280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23900"/>
            <a:ext cx="1028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Giai đoạn 2 dựng backend để các phần khác có chỗ tích hợp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838200" y="1733550"/>
            <a:ext cx="10001250" cy="495300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123950" y="1847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API nền</a:t>
            </a:r>
            <a:endParaRPr sz="1575" b="1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000500" y="18478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health, users, devices, access logs</a:t>
            </a:r>
            <a:endParaRPr sz="1500" b="0">
              <a:solidFill>
                <a:srgbClr val="4B5563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838200" y="2457450"/>
            <a:ext cx="10001250" cy="495300"/>
          </a:xfrm>
          <a:prstGeom prst="roundRect">
            <a:avLst>
              <a:gd name="adj" fmla="val 15385"/>
            </a:avLst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1123950" y="25717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Điều khiển khóa</a:t>
            </a:r>
            <a:endParaRPr sz="1575" b="1">
              <a:solidFill>
                <a:srgbClr val="111827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000500" y="25717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lock/unlock, ghi lý do mở khóa</a:t>
            </a:r>
            <a:endParaRPr sz="1500" b="0">
              <a:solidFill>
                <a:srgbClr val="4B5563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838200" y="3181350"/>
            <a:ext cx="10001250" cy="495300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123950" y="32956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Nhận kết quả AI</a:t>
            </a:r>
            <a:endParaRPr sz="1575" b="1">
              <a:solidFill>
                <a:srgbClr val="111827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4000500" y="32956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recognition-events, confidence, userId</a:t>
            </a:r>
            <a:endParaRPr sz="1500" b="0">
              <a:solidFill>
                <a:srgbClr val="4B5563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838200" y="3905250"/>
            <a:ext cx="10001250" cy="495300"/>
          </a:xfrm>
          <a:prstGeom prst="roundRect">
            <a:avLst>
              <a:gd name="adj" fmla="val 15385"/>
            </a:avLst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1123950" y="40195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Database</a:t>
            </a:r>
            <a:endParaRPr sz="1575" b="1">
              <a:solidFill>
                <a:srgbClr val="111827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4000500" y="40195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users, devices, face_embeddings, access_logs</a:t>
            </a:r>
            <a:endParaRPr sz="1500" b="0">
              <a:solidFill>
                <a:srgbClr val="4B5563"/>
              </a:solidFill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838200" y="4629150"/>
            <a:ext cx="10001250" cy="495300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1123950" y="47434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Bảo mật</a:t>
            </a:r>
            <a:endParaRPr sz="1575" b="1">
              <a:solidFill>
                <a:srgbClr val="111827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4000500" y="474345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JWT/API key, middleware, error handler</a:t>
            </a:r>
            <a:endParaRPr sz="1500" b="0">
              <a:solidFill>
                <a:srgbClr val="4B5563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76300" y="5619750"/>
            <a:ext cx="971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Điểm kiểm tra: dashboard gọi được API giả, AI gửi được event mẫu, firmware nhận được lệnh mô phỏng.</a:t>
            </a:r>
            <a:endParaRPr sz="1650" b="1">
              <a:solidFill>
                <a:srgbClr val="2563EB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1087100" y="63246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05</a:t>
            </a:r>
            <a:endParaRPr sz="1200" b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85800" y="3619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KHÓA CỬA NHẬN DIỆN KHUÔN MẶT</a:t>
            </a:r>
            <a:endParaRPr sz="1050" b="1">
              <a:solidFill>
                <a:srgbClr val="6B7280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23900"/>
            <a:ext cx="1028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Giai đoạn 3 và 4 chạy demo riêng trước khi lắp khóa thật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742950" y="1828800"/>
            <a:ext cx="4762500" cy="3143250"/>
          </a:xfrm>
          <a:prstGeom prst="roundRect">
            <a:avLst>
              <a:gd name="adj" fmla="val 2424"/>
            </a:avLst>
          </a:prstGeom>
          <a:solidFill>
            <a:srgbClr val="FAF5FF"/>
          </a:solidFill>
          <a:ln w="9525">
            <a:solidFill>
              <a:srgbClr val="D8B4FE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066800" y="21717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AI nhận diện demo</a:t>
            </a:r>
            <a:endParaRPr sz="2025" b="1">
              <a:solidFill>
                <a:srgbClr val="7C3AED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066800" y="2781300"/>
            <a:ext cx="3714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Chạy với ảnh test hoặc webcam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Trả recognized, userId, confidence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Thử người được phép và người lạ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Gửi event mẫu về backend</a:t>
            </a:r>
            <a:endParaRPr sz="1500" b="0">
              <a:solidFill>
                <a:srgbClr val="4B5563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705600" y="1828800"/>
            <a:ext cx="4762500" cy="3143250"/>
          </a:xfrm>
          <a:prstGeom prst="roundRect">
            <a:avLst>
              <a:gd name="adj" fmla="val 2424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029450" y="21717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59669"/>
                </a:solidFill>
              </a:defRPr>
            </a:pPr>
            <a:r>
              <a:rPr sz="2025" b="1">
                <a:solidFill>
                  <a:srgbClr val="059669"/>
                </a:solidFill>
              </a:rPr>
              <a:t>Firmware mô phỏng</a:t>
            </a:r>
            <a:endParaRPr sz="2025" b="1">
              <a:solidFill>
                <a:srgbClr val="059669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029450" y="2781300"/>
            <a:ext cx="3714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ESP32 kết nối Wi-Fi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Nhận lệnh lock/unlock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Bật LED hoặc relay thử</a:t>
            </a:r>
            <a:endParaRPr sz="1500" b="0">
              <a:solidFill>
                <a:srgbClr val="4B5563"/>
              </a:solidFill>
            </a:endParaRP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• Báo trạng thái online/offline</a:t>
            </a:r>
            <a:endParaRPr sz="1500" b="0">
              <a:solidFill>
                <a:srgbClr val="4B5563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028700" y="5543550"/>
            <a:ext cx="962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Chỉ chuyển sang phần cứng thật khi cả AI demo và firmware mô phỏng đều chạy ổn.</a:t>
            </a:r>
            <a:endParaRPr sz="1725" b="1">
              <a:solidFill>
                <a:srgbClr val="111827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1087100" y="63246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06</a:t>
            </a:r>
            <a:endParaRPr sz="1200" b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85800" y="3619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KHÓA CỬA NHẬN DIỆN KHUÔN MẶT</a:t>
            </a:r>
            <a:endParaRPr sz="1050" b="1">
              <a:solidFill>
                <a:srgbClr val="6B7280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23900"/>
            <a:ext cx="1028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Giai đoạn 5 dashboard giúp kiểm tra hệ thống bằng mắt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819150" y="1885950"/>
            <a:ext cx="4762500" cy="121920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104900" y="2114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Tổng quan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4900" y="25336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Trạng thái khóa, camera, ESP32, backend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819150" y="3581400"/>
            <a:ext cx="4762500" cy="121920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1104900" y="3810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Người dùng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104900" y="42291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Thêm, sửa, vô hiệu hóa người được phép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515100" y="1885950"/>
            <a:ext cx="4762500" cy="121920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6800850" y="2114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Lịch sử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800850" y="25336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Ai vào, lúc nào, kết quả allowed/denied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515100" y="3581400"/>
            <a:ext cx="4762500" cy="121920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800850" y="3810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Thiết bị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800850" y="42291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Online/offline, lần kết nối cuối, lỗi gần nhất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76300" y="5429250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Dashboard không cần đợi khóa thật. Có thể dùng API giả hoặc dữ liệu mẫu để kiểm tra giao diện sớm.</a:t>
            </a:r>
            <a:endParaRPr sz="1650" b="1">
              <a:solidFill>
                <a:srgbClr val="D97706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1087100" y="63246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07</a:t>
            </a:r>
            <a:endParaRPr sz="1200" b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85800" y="3619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KHÓA CỬA NHẬN DIỆN KHUÔN MẶT</a:t>
            </a:r>
            <a:endParaRPr sz="1050" b="1">
              <a:solidFill>
                <a:srgbClr val="6B7280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23900"/>
            <a:ext cx="1028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Giai đoạn 6 mới ghép phần cứng thật để giảm rủi ro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838200" y="1809750"/>
            <a:ext cx="5000625" cy="3505200"/>
          </a:xfrm>
          <a:prstGeom prst="roundRect">
            <a:avLst>
              <a:gd name="adj" fmla="val 2174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181100" y="21336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D97706"/>
                </a:solidFill>
              </a:defRPr>
            </a:pPr>
            <a:r>
              <a:rPr sz="2025" b="1">
                <a:solidFill>
                  <a:srgbClr val="D97706"/>
                </a:solidFill>
              </a:rPr>
              <a:t>Checklist an toàn</a:t>
            </a:r>
            <a:endParaRPr sz="2025" b="1">
              <a:solidFill>
                <a:srgbClr val="D97706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81100" y="2724150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Nguồn riêng cho khóa điện hoặc servo nếu cần dòng lớn</a:t>
            </a:r>
            <a:endParaRPr sz="1425" b="0">
              <a:solidFill>
                <a:srgbClr val="4B5563"/>
              </a:solidFill>
            </a:endParaRPr>
          </a:p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Nối chung GND giữa ESP32 và module điều khiển</a:t>
            </a:r>
            <a:endParaRPr sz="1425" b="0">
              <a:solidFill>
                <a:srgbClr val="4B5563"/>
              </a:solidFill>
            </a:endParaRPr>
          </a:p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Không cấp tải khóa điện trực tiếp từ chân GPIO</a:t>
            </a:r>
            <a:endParaRPr sz="1425" b="0">
              <a:solidFill>
                <a:srgbClr val="4B5563"/>
              </a:solidFill>
            </a:endParaRPr>
          </a:p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Test relay/servo trên bàn trước khi gắn vào cửa</a:t>
            </a:r>
            <a:endParaRPr sz="1425" b="0">
              <a:solidFill>
                <a:srgbClr val="4B5563"/>
              </a:solidFill>
            </a:endParaRPr>
          </a:p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Có phương án mở cửa thủ công nếu hệ thống lỗi</a:t>
            </a:r>
            <a:endParaRPr sz="1425" b="0">
              <a:solidFill>
                <a:srgbClr val="4B5563"/>
              </a:solidFill>
            </a:endParaRPr>
          </a:p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Ghi log mọi lần mở khóa để truy vết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686550" y="1809750"/>
            <a:ext cx="4000500" cy="3505200"/>
          </a:xfrm>
          <a:prstGeom prst="roundRect">
            <a:avLst>
              <a:gd name="adj" fmla="val 2174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029450" y="21336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DC2626"/>
                </a:solidFill>
              </a:defRPr>
            </a:pPr>
            <a:r>
              <a:rPr sz="2025" b="1">
                <a:solidFill>
                  <a:srgbClr val="DC2626"/>
                </a:solidFill>
              </a:rPr>
              <a:t>Không làm ngay</a:t>
            </a:r>
            <a:endParaRPr sz="2025" b="1">
              <a:solidFill>
                <a:srgbClr val="DC2626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029450" y="27241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Không gắn khóa thật khi API chưa ổn</a:t>
            </a:r>
            <a:endParaRPr sz="1425" b="0">
              <a:solidFill>
                <a:srgbClr val="4B5563"/>
              </a:solidFill>
            </a:endParaRPr>
          </a:p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Không test nguồn lớn khi chưa đo tải</a:t>
            </a:r>
            <a:endParaRPr sz="1425" b="0">
              <a:solidFill>
                <a:srgbClr val="4B5563"/>
              </a:solidFill>
            </a:endParaRPr>
          </a:p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Không để khóa phụ thuộc duy nhất vào AI</a:t>
            </a:r>
            <a:endParaRPr sz="1425" b="0">
              <a:solidFill>
                <a:srgbClr val="4B5563"/>
              </a:solidFill>
            </a:endParaRPr>
          </a:p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• Không bỏ qua cách mở dự phòng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087100" y="63246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08</a:t>
            </a:r>
            <a:endParaRPr sz="1200" b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85800" y="3619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KHÓA CỬA NHẬN DIỆN KHUÔN MẶT</a:t>
            </a:r>
            <a:endParaRPr sz="1050" b="1">
              <a:solidFill>
                <a:srgbClr val="6B7280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23900"/>
            <a:ext cx="1121918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Giai đoạn </a:t>
            </a:r>
            <a:r>
              <a:rPr lang="en-US" sz="2700" b="1">
                <a:solidFill>
                  <a:srgbClr val="111827"/>
                </a:solidFill>
              </a:rPr>
              <a:t>7</a:t>
            </a:r>
            <a:r>
              <a:rPr sz="2700" b="1">
                <a:solidFill>
                  <a:srgbClr val="111827"/>
                </a:solidFill>
              </a:rPr>
              <a:t> </a:t>
            </a:r>
            <a:r>
              <a:rPr lang="en-US" sz="2700" b="1">
                <a:solidFill>
                  <a:srgbClr val="111827"/>
                </a:solidFill>
              </a:rPr>
              <a:t>tiến hành test sản phẩm và gợi ý hướng phát </a:t>
            </a:r>
            <a:r>
              <a:rPr lang="en-US" sz="2700" b="1">
                <a:solidFill>
                  <a:srgbClr val="111827"/>
                </a:solidFill>
              </a:rPr>
              <a:t>triển</a:t>
            </a:r>
            <a:endParaRPr lang="en-US" sz="2700" b="1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838200" y="1809750"/>
            <a:ext cx="5000625" cy="3505200"/>
          </a:xfrm>
          <a:prstGeom prst="roundRect">
            <a:avLst>
              <a:gd name="adj" fmla="val 2174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686550" y="1809750"/>
            <a:ext cx="4000500" cy="3505200"/>
          </a:xfrm>
          <a:prstGeom prst="roundRect">
            <a:avLst>
              <a:gd name="adj" fmla="val 2174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181100" y="21336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D97706"/>
                </a:solidFill>
              </a:defRPr>
            </a:pPr>
            <a:r>
              <a:rPr lang="en-US" sz="2025" b="1">
                <a:solidFill>
                  <a:srgbClr val="D97706"/>
                </a:solidFill>
              </a:rPr>
              <a:t>phần tester </a:t>
            </a:r>
            <a:r>
              <a:rPr lang="en-US" sz="2025" b="1">
                <a:solidFill>
                  <a:srgbClr val="D97706"/>
                </a:solidFill>
              </a:rPr>
              <a:t>nhóm </a:t>
            </a:r>
            <a:endParaRPr lang="en-US" sz="2025" b="1">
              <a:solidFill>
                <a:srgbClr val="D97706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029450" y="21336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DC2626"/>
                </a:solidFill>
              </a:defRPr>
            </a:pPr>
            <a:r>
              <a:rPr lang="en-US" sz="2025" b="1">
                <a:solidFill>
                  <a:srgbClr val="DC2626"/>
                </a:solidFill>
              </a:rPr>
              <a:t>lỗi </a:t>
            </a:r>
            <a:r>
              <a:rPr lang="en-US" sz="2025" b="1">
                <a:solidFill>
                  <a:srgbClr val="DC2626"/>
                </a:solidFill>
              </a:rPr>
              <a:t>log</a:t>
            </a:r>
            <a:endParaRPr lang="en-US" sz="2025" b="1">
              <a:solidFill>
                <a:srgbClr val="DC262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85800" y="3619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KHÓA CỬA NHẬN DIỆN KHUÔN MẶT</a:t>
            </a:r>
            <a:endParaRPr sz="1050" b="1">
              <a:solidFill>
                <a:srgbClr val="6B7280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23900"/>
            <a:ext cx="1028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Phân công theo nhánh giúp merge vào dev an toàn hơn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914400" y="1771650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009650" y="18383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feature/backend-api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3695700" y="1743075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3943350" y="1838325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backend/, docs/api.md, test API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914400" y="2647950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1009650" y="27146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feature/face-recognition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3695700" y="2619375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943350" y="2714625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ai-model/, payload recognition event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914400" y="3524250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009650" y="35909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feature/esp32-firmware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3695700" y="3495675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943350" y="3590925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firmware/, hardware/, tests/hardware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914400" y="4400550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1009650" y="44672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feature/web-dashboard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3695700" y="4371975"/>
            <a:ext cx="6667500" cy="38100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3943350" y="4467225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dashboard/, web/app/, tích hợp API</a:t>
            </a:r>
            <a:endParaRPr sz="1425" b="0">
              <a:solidFill>
                <a:srgbClr val="4B5563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914400" y="5619750"/>
            <a:ext cx="962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Quy tắc nhóm: branch có thể thấy full source, nhưng mỗi người chỉ sửa đúng phạm vi được giao.</a:t>
            </a:r>
            <a:endParaRPr sz="1725" b="1">
              <a:solidFill>
                <a:srgbClr val="111827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1087100" y="63246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09</a:t>
            </a:r>
            <a:endParaRPr sz="1200" b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85800" y="3619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KHÓA CỬA NHẬN DIỆN KHUÔN MẶT</a:t>
            </a:r>
            <a:endParaRPr sz="1050" b="1">
              <a:solidFill>
                <a:srgbClr val="6B7280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23900"/>
            <a:ext cx="1028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Kế hoạch kết thúc bằng bản demo tích hợp từng lớp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428750"/>
            <a:ext cx="10820400" cy="19050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742950" y="17145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Mốc demo cuối nên chứng minh được toàn bộ luồng: nhận diện khuôn mặt → backend quyết định → firmware mở khóa → dashboard ghi nhận.</a:t>
            </a:r>
            <a:endParaRPr sz="1950" b="1">
              <a:solidFill>
                <a:srgbClr val="111827"/>
              </a:solidFill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876300" y="2857500"/>
            <a:ext cx="4953000" cy="2495550"/>
          </a:xfrm>
          <a:prstGeom prst="roundRect">
            <a:avLst>
              <a:gd name="adj" fmla="val 3053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200150" y="31813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Tiêu chí hoàn thành</a:t>
            </a:r>
            <a:endParaRPr sz="2025" b="1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200150" y="3733800"/>
            <a:ext cx="3905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Backend chạy được API chính</a:t>
            </a:r>
            <a:endParaRPr sz="1350" b="0">
              <a:solidFill>
                <a:srgbClr val="4B5563"/>
              </a:solidFill>
            </a:endParaRPr>
          </a:p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AI gửi event nhận diện mẫu</a:t>
            </a:r>
            <a:endParaRPr sz="1350" b="0">
              <a:solidFill>
                <a:srgbClr val="4B5563"/>
              </a:solidFill>
            </a:endParaRPr>
          </a:p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Firmware nhận lệnh và phản hồi trạng thái</a:t>
            </a:r>
            <a:endParaRPr sz="1350" b="0">
              <a:solidFill>
                <a:srgbClr val="4B5563"/>
              </a:solidFill>
            </a:endParaRPr>
          </a:p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Dashboard hiển thị users, logs, device status</a:t>
            </a:r>
            <a:endParaRPr sz="1350" b="0">
              <a:solidFill>
                <a:srgbClr val="4B5563"/>
              </a:solidFill>
            </a:endParaRPr>
          </a:p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• Phần cứng thật mở khóa an toàn trong test</a:t>
            </a:r>
            <a:endParaRPr sz="1350" b="0">
              <a:solidFill>
                <a:srgbClr val="4B5563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6705600" y="2857500"/>
            <a:ext cx="4000500" cy="2495550"/>
          </a:xfrm>
          <a:prstGeom prst="roundRect">
            <a:avLst>
              <a:gd name="adj" fmla="val 305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029450" y="31813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Thứ tự ưu tiên</a:t>
            </a:r>
            <a:endParaRPr sz="2025" b="1">
              <a:solidFill>
                <a:srgbClr val="2563EB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029450" y="3733800"/>
            <a:ext cx="2857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API trước</a:t>
            </a:r>
            <a:endParaRPr sz="1800" b="1">
              <a:solidFill>
                <a:srgbClr val="111827"/>
              </a:solidFill>
            </a:endParaRPr>
          </a:p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Demo riêng từng phần</a:t>
            </a:r>
            <a:endParaRPr sz="1800" b="1">
              <a:solidFill>
                <a:srgbClr val="111827"/>
              </a:solidFill>
            </a:endParaRPr>
          </a:p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Dashboard kiểm tra</a:t>
            </a:r>
            <a:endParaRPr sz="1800" b="1">
              <a:solidFill>
                <a:srgbClr val="111827"/>
              </a:solidFill>
            </a:endParaRPr>
          </a:p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Phần cứng thật sau cùng</a:t>
            </a:r>
            <a:endParaRPr sz="1800" b="1">
              <a:solidFill>
                <a:srgbClr val="111827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1087100" y="63246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10</a:t>
            </a:r>
            <a:endParaRPr sz="1200" b="1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4266</Words>
  <Application>WPS Docs</Application>
  <PresentationFormat>Converted Presentation</PresentationFormat>
  <Paragraphs>256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宋体-简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Minh ân Hoàng</cp:lastModifiedBy>
  <cp:revision>2</cp:revision>
  <dcterms:created xsi:type="dcterms:W3CDTF">2026-07-06T10:17:10Z</dcterms:created>
  <dcterms:modified xsi:type="dcterms:W3CDTF">2026-07-06T10:17:10Z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F1710EEE6F60E7E05A804B6A4FC5E233_42</vt:lpwstr>
  </property>
  <property fmtid="{D5CDD505-2E9C-101B-9397-08002B2CF9AE}" pid="3" name="KSOProductBuildVer">
    <vt:lpwstr>1033-12.1.25880.25880</vt:lpwstr>
  </property>
</Properties>
</file>